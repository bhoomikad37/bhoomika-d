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@ 30 DAS (cm)</c:v>
                </c:pt>
              </c:strCache>
            </c:strRef>
          </c:tx>
          <c:spPr>
            <a:solidFill>
              <a:srgbClr val="74C69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21252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T₁</c:v>
                  </c:pt>
                  <c:pt idx="1">
                    <c:v>T₂</c:v>
                  </c:pt>
                  <c:pt idx="2">
                    <c:v>T₃</c:v>
                  </c:pt>
                  <c:pt idx="3">
                    <c:v>T₄</c:v>
                  </c:pt>
                  <c:pt idx="4">
                    <c:v>T₅</c:v>
                  </c:pt>
                  <c:pt idx="5">
                    <c:v>T₆</c:v>
                  </c:pt>
                  <c:pt idx="6">
                    <c:v>T₇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37.3</c:v>
                </c:pt>
                <c:pt idx="1">
                  <c:v>70.6</c:v>
                </c:pt>
                <c:pt idx="2">
                  <c:v>73.66</c:v>
                </c:pt>
                <c:pt idx="3">
                  <c:v>72</c:v>
                </c:pt>
                <c:pt idx="4">
                  <c:v>68.2</c:v>
                </c:pt>
                <c:pt idx="5">
                  <c:v>51.53</c:v>
                </c:pt>
                <c:pt idx="6">
                  <c:v>35.53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@ 60 DAS (cm)</c:v>
                </c:pt>
              </c:strCache>
            </c:strRef>
          </c:tx>
          <c:spPr>
            <a:solidFill>
              <a:srgbClr val="1B433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21252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T₁</c:v>
                  </c:pt>
                  <c:pt idx="1">
                    <c:v>T₂</c:v>
                  </c:pt>
                  <c:pt idx="2">
                    <c:v>T₃</c:v>
                  </c:pt>
                  <c:pt idx="3">
                    <c:v>T₄</c:v>
                  </c:pt>
                  <c:pt idx="4">
                    <c:v>T₅</c:v>
                  </c:pt>
                  <c:pt idx="5">
                    <c:v>T₆</c:v>
                  </c:pt>
                  <c:pt idx="6">
                    <c:v>T₇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61.07</c:v>
                </c:pt>
                <c:pt idx="1">
                  <c:v>121.13</c:v>
                </c:pt>
                <c:pt idx="2">
                  <c:v>123.87</c:v>
                </c:pt>
                <c:pt idx="3">
                  <c:v>122.07</c:v>
                </c:pt>
                <c:pt idx="4">
                  <c:v>115.8</c:v>
                </c:pt>
                <c:pt idx="5">
                  <c:v>87.4</c:v>
                </c:pt>
                <c:pt idx="6">
                  <c:v>63.33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21252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9505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9505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No. of Leaves / Plant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No. of Leaves / Plant</c:v>
                </c:pt>
              </c:strCache>
            </c:strRef>
          </c:tx>
          <c:spPr>
            <a:solidFill>
              <a:srgbClr val="40916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1252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T₁</c:v>
                  </c:pt>
                  <c:pt idx="1">
                    <c:v>T₂</c:v>
                  </c:pt>
                  <c:pt idx="2">
                    <c:v>T₃</c:v>
                  </c:pt>
                  <c:pt idx="3">
                    <c:v>T₄</c:v>
                  </c:pt>
                  <c:pt idx="4">
                    <c:v>T₅</c:v>
                  </c:pt>
                  <c:pt idx="5">
                    <c:v>T₆</c:v>
                  </c:pt>
                  <c:pt idx="6">
                    <c:v>T₇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11</c:v>
                </c:pt>
                <c:pt idx="1">
                  <c:v>19</c:v>
                </c:pt>
                <c:pt idx="2">
                  <c:v>19</c:v>
                </c:pt>
                <c:pt idx="3">
                  <c:v>17</c:v>
                </c:pt>
                <c:pt idx="4">
                  <c:v>18</c:v>
                </c:pt>
                <c:pt idx="5">
                  <c:v>16</c:v>
                </c:pt>
                <c:pt idx="6">
                  <c:v>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21252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9505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9505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No. of Tillers / Plant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No. of Tillers / Plant</c:v>
                </c:pt>
              </c:strCache>
            </c:strRef>
          </c:tx>
          <c:spPr>
            <a:solidFill>
              <a:srgbClr val="E76F5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1252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T₁</c:v>
                  </c:pt>
                  <c:pt idx="1">
                    <c:v>T₂</c:v>
                  </c:pt>
                  <c:pt idx="2">
                    <c:v>T₃</c:v>
                  </c:pt>
                  <c:pt idx="3">
                    <c:v>T₄</c:v>
                  </c:pt>
                  <c:pt idx="4">
                    <c:v>T₅</c:v>
                  </c:pt>
                  <c:pt idx="5">
                    <c:v>T₆</c:v>
                  </c:pt>
                  <c:pt idx="6">
                    <c:v>T₇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2</c:v>
                </c:pt>
                <c:pt idx="6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21252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9505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9505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Green Fodder Yield (kg/plot)</c:v>
                </c:pt>
              </c:strCache>
            </c:strRef>
          </c:tx>
          <c:spPr>
            <a:solidFill>
              <a:srgbClr val="40916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1252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0916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B433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D6A4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0916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74C69D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ADB5BD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495057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T₁
Control</c:v>
                  </c:pt>
                  <c:pt idx="1">
                    <c:v>T₂
100%RDF+FYM</c:v>
                  </c:pt>
                  <c:pt idx="2">
                    <c:v>T₃
100%RDF+Foliar</c:v>
                  </c:pt>
                  <c:pt idx="3">
                    <c:v>T₄
75%RDF+Foliar</c:v>
                  </c:pt>
                  <c:pt idx="4">
                    <c:v>T₅
50%RDF+Foliar</c:v>
                  </c:pt>
                  <c:pt idx="5">
                    <c:v>T₆
25%RDF+Foliar</c:v>
                  </c:pt>
                  <c:pt idx="6">
                    <c:v>T₇
0%RDF+Foliar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1.93</c:v>
                </c:pt>
                <c:pt idx="1">
                  <c:v>3.83</c:v>
                </c:pt>
                <c:pt idx="2">
                  <c:v>3.5</c:v>
                </c:pt>
                <c:pt idx="3">
                  <c:v>3.73</c:v>
                </c:pt>
                <c:pt idx="4">
                  <c:v>2.8</c:v>
                </c:pt>
                <c:pt idx="5">
                  <c:v>2.27</c:v>
                </c:pt>
                <c:pt idx="6">
                  <c:v>1.6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21252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9505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.5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9505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Replication 1 (kg)</c:v>
                </c:pt>
              </c:strCache>
            </c:strRef>
          </c:tx>
          <c:spPr>
            <a:solidFill>
              <a:srgbClr val="1B433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T₁</c:v>
                  </c:pt>
                  <c:pt idx="1">
                    <c:v>T₂</c:v>
                  </c:pt>
                  <c:pt idx="2">
                    <c:v>T₃</c:v>
                  </c:pt>
                  <c:pt idx="3">
                    <c:v>T₄</c:v>
                  </c:pt>
                  <c:pt idx="4">
                    <c:v>T₅</c:v>
                  </c:pt>
                  <c:pt idx="5">
                    <c:v>T₆</c:v>
                  </c:pt>
                  <c:pt idx="6">
                    <c:v>T₇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2.7</c:v>
                </c:pt>
                <c:pt idx="1">
                  <c:v>4.3</c:v>
                </c:pt>
                <c:pt idx="2">
                  <c:v>4.1</c:v>
                </c:pt>
                <c:pt idx="3">
                  <c:v>3.2</c:v>
                </c:pt>
                <c:pt idx="4">
                  <c:v>2.4</c:v>
                </c:pt>
                <c:pt idx="5">
                  <c:v>2.3</c:v>
                </c:pt>
                <c:pt idx="6">
                  <c:v>1.5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Replication 2 (kg)</c:v>
                </c:pt>
              </c:strCache>
            </c:strRef>
          </c:tx>
          <c:spPr>
            <a:solidFill>
              <a:srgbClr val="40916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T₁</c:v>
                  </c:pt>
                  <c:pt idx="1">
                    <c:v>T₂</c:v>
                  </c:pt>
                  <c:pt idx="2">
                    <c:v>T₃</c:v>
                  </c:pt>
                  <c:pt idx="3">
                    <c:v>T₄</c:v>
                  </c:pt>
                  <c:pt idx="4">
                    <c:v>T₅</c:v>
                  </c:pt>
                  <c:pt idx="5">
                    <c:v>T₆</c:v>
                  </c:pt>
                  <c:pt idx="6">
                    <c:v>T₇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1.5</c:v>
                </c:pt>
                <c:pt idx="1">
                  <c:v>3.8</c:v>
                </c:pt>
                <c:pt idx="2">
                  <c:v>3.3</c:v>
                </c:pt>
                <c:pt idx="3">
                  <c:v>4.1</c:v>
                </c:pt>
                <c:pt idx="4">
                  <c:v>3.1</c:v>
                </c:pt>
                <c:pt idx="5">
                  <c:v>2.1</c:v>
                </c:pt>
                <c:pt idx="6">
                  <c:v>1.5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Replication 3 (kg)</c:v>
                </c:pt>
              </c:strCache>
            </c:strRef>
          </c:tx>
          <c:spPr>
            <a:solidFill>
              <a:srgbClr val="74C69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T₁</c:v>
                  </c:pt>
                  <c:pt idx="1">
                    <c:v>T₂</c:v>
                  </c:pt>
                  <c:pt idx="2">
                    <c:v>T₃</c:v>
                  </c:pt>
                  <c:pt idx="3">
                    <c:v>T₄</c:v>
                  </c:pt>
                  <c:pt idx="4">
                    <c:v>T₅</c:v>
                  </c:pt>
                  <c:pt idx="5">
                    <c:v>T₆</c:v>
                  </c:pt>
                  <c:pt idx="6">
                    <c:v>T₇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1.6</c:v>
                </c:pt>
                <c:pt idx="1">
                  <c:v>3.4</c:v>
                </c:pt>
                <c:pt idx="2">
                  <c:v>3.1</c:v>
                </c:pt>
                <c:pt idx="3">
                  <c:v>3.9</c:v>
                </c:pt>
                <c:pt idx="4">
                  <c:v>2.9</c:v>
                </c:pt>
                <c:pt idx="5">
                  <c:v>2.4</c:v>
                </c:pt>
                <c:pt idx="6">
                  <c:v>1.8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9505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9505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Ranked Treatment Yield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Yield (kg/plot)</c:v>
                </c:pt>
              </c:strCache>
            </c:strRef>
          </c:tx>
          <c:spPr>
            <a:solidFill>
              <a:srgbClr val="49505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21252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9505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9505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4C69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4C69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D6A4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40916C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B4332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T₇</c:v>
                  </c:pt>
                  <c:pt idx="1">
                    <c:v>T₁</c:v>
                  </c:pt>
                  <c:pt idx="2">
                    <c:v>T₆</c:v>
                  </c:pt>
                  <c:pt idx="3">
                    <c:v>T₅</c:v>
                  </c:pt>
                  <c:pt idx="4">
                    <c:v>T₃</c:v>
                  </c:pt>
                  <c:pt idx="5">
                    <c:v>T₄</c:v>
                  </c:pt>
                  <c:pt idx="6">
                    <c:v>T₂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1.6</c:v>
                </c:pt>
                <c:pt idx="1">
                  <c:v>1.93</c:v>
                </c:pt>
                <c:pt idx="2">
                  <c:v>2.27</c:v>
                </c:pt>
                <c:pt idx="3">
                  <c:v>2.8</c:v>
                </c:pt>
                <c:pt idx="4">
                  <c:v>3.5</c:v>
                </c:pt>
                <c:pt idx="5">
                  <c:v>3.73</c:v>
                </c:pt>
                <c:pt idx="6">
                  <c:v>3.83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21252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9505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9505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3474720" cy="503377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0" y="109728"/>
            <a:ext cx="54864" cy="5033772"/>
          </a:xfrm>
          <a:prstGeom prst="rect">
            <a:avLst/>
          </a:prstGeom>
          <a:solidFill>
            <a:srgbClr val="74C69D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57200"/>
            <a:ext cx="30175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PEARL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MILLET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74320" y="21488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Pennisetum glaucum L.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2560320"/>
            <a:ext cx="2926080" cy="2743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269748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Bhoomika D – AMB2037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Bhumika – AMB2039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Lekhana B M – AMB2115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749040" y="548640"/>
            <a:ext cx="5120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EFFECT OF FOLIAR APPLICATION ON GROWTH AND YIELD OF PEARL MILLET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749040" y="2651760"/>
            <a:ext cx="4937760" cy="2743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9040" y="278892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EAI-421: Application of AI &amp; ML in Agriculture (0+10)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UAS GKVK, Bengaluru  |  Dept. of Agronomy  |  Kharif 2025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52A1E"/>
          </a:solidFill>
          <a:ln w="12700">
            <a:solidFill>
              <a:srgbClr val="152A1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49040" y="4956048"/>
            <a:ext cx="5120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REPORT  |  AGR 312  |  RCBD Experiment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 Millet Foliar Application Study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347472" cy="347472"/>
          </a:xfrm>
          <a:prstGeom prst="rect">
            <a:avLst>
              <a:gd name="adj" fmla="val 13158"/>
            </a:avLst>
          </a:prstGeom>
          <a:solidFill>
            <a:srgbClr val="2D6A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34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49808" y="119786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9808" y="142646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study, key results &amp; conclusions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657600" y="12618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0040" y="1783080"/>
            <a:ext cx="347472" cy="347472"/>
          </a:xfrm>
          <a:prstGeom prst="rect">
            <a:avLst>
              <a:gd name="adj" fmla="val 13158"/>
            </a:avLst>
          </a:prstGeom>
          <a:solidFill>
            <a:srgbClr val="2D6A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49808" y="174650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Objectives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49808" y="197510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Fodder deficit, foliar efficiency, research goals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0" y="18105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0040" y="2331720"/>
            <a:ext cx="347472" cy="347472"/>
          </a:xfrm>
          <a:prstGeom prst="rect">
            <a:avLst>
              <a:gd name="adj" fmla="val 13158"/>
            </a:avLst>
          </a:prstGeom>
          <a:solidFill>
            <a:srgbClr val="2D6A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331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49808" y="229514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&amp; Methods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9808" y="252374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site, design &amp; foliar protocol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657600" y="23591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20040" y="2880360"/>
            <a:ext cx="347472" cy="347472"/>
          </a:xfrm>
          <a:prstGeom prst="rect">
            <a:avLst>
              <a:gd name="adj" fmla="val 13158"/>
            </a:avLst>
          </a:prstGeom>
          <a:solidFill>
            <a:srgbClr val="40916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880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49808" y="284378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Structure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9808" y="307238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treatments × 3 replications — RCBD layout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657600" y="290779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20040" y="3429000"/>
            <a:ext cx="347472" cy="347472"/>
          </a:xfrm>
          <a:prstGeom prst="rect">
            <a:avLst>
              <a:gd name="adj" fmla="val 13158"/>
            </a:avLst>
          </a:prstGeom>
          <a:solidFill>
            <a:srgbClr val="40916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429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49808" y="339242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Properties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49808" y="362102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Pre-sowing physico-chemical analysis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657600" y="34564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20040" y="3977640"/>
            <a:ext cx="347472" cy="347472"/>
          </a:xfrm>
          <a:prstGeom prst="rect">
            <a:avLst>
              <a:gd name="adj" fmla="val 13158"/>
            </a:avLst>
          </a:prstGeom>
          <a:solidFill>
            <a:srgbClr val="40916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3977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49808" y="394106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Parameters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49808" y="416966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height, leaves &amp; tillers per plant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657600" y="40050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8–9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617720" y="1234440"/>
            <a:ext cx="347472" cy="347472"/>
          </a:xfrm>
          <a:prstGeom prst="rect">
            <a:avLst>
              <a:gd name="adj" fmla="val 13158"/>
            </a:avLst>
          </a:prstGeom>
          <a:solidFill>
            <a:srgbClr val="E76F5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17720" y="1234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07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047488" y="119786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Results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047488" y="142646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fodder yield &amp; replication-wise analysis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8046720" y="126187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10–11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617720" y="1783080"/>
            <a:ext cx="347472" cy="347472"/>
          </a:xfrm>
          <a:prstGeom prst="rect">
            <a:avLst>
              <a:gd name="adj" fmla="val 13158"/>
            </a:avLst>
          </a:prstGeom>
          <a:solidFill>
            <a:srgbClr val="E76F5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17720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08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047488" y="174650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Analysis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047488" y="197510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 (RCBD) — F-test, CD &amp; grand mean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8046720" y="181051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617720" y="2331720"/>
            <a:ext cx="347472" cy="347472"/>
          </a:xfrm>
          <a:prstGeom prst="rect">
            <a:avLst>
              <a:gd name="adj" fmla="val 13158"/>
            </a:avLst>
          </a:prstGeom>
          <a:solidFill>
            <a:srgbClr val="E76F5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17720" y="2331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09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047488" y="229514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Code &amp; AI Tools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047488" y="252374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analysis, visualization &amp; AI scope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8046720" y="235915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13–15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617720" y="2880360"/>
            <a:ext cx="347472" cy="347472"/>
          </a:xfrm>
          <a:prstGeom prst="rect">
            <a:avLst>
              <a:gd name="adj" fmla="val 13158"/>
            </a:avLst>
          </a:prstGeom>
          <a:solidFill>
            <a:srgbClr val="E76F5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617720" y="2880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047488" y="284378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of Literature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047488" y="307238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research on foliar fertilization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8046720" y="290779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16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617720" y="3429000"/>
            <a:ext cx="347472" cy="347472"/>
          </a:xfrm>
          <a:prstGeom prst="rect">
            <a:avLst>
              <a:gd name="adj" fmla="val 13158"/>
            </a:avLst>
          </a:prstGeom>
          <a:solidFill>
            <a:srgbClr val="E76F5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617720" y="3429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11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047488" y="339242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5047488" y="362102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for Eastern Dry Zone, Karnataka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8046720" y="34564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17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4526280" y="1170432"/>
            <a:ext cx="36576" cy="3703320"/>
          </a:xfrm>
          <a:prstGeom prst="rect">
            <a:avLst/>
          </a:prstGeom>
          <a:solidFill>
            <a:srgbClr val="74C69D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74320" y="49103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UAS Bangalore  |  Dept. of Agronomy  |  AGR 312  |  Kharif 2025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777240"/>
            <a:ext cx="8979408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914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ABSTRACT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47472" y="576072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the Study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74C69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005840"/>
            <a:ext cx="54864" cy="109728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05156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48056" y="109728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Site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8056" y="1399032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Conducted during Kharif 2025 at Instructional Farm, UAS GKVK, Bengaluru (Eastern Dry Zone, Karnataka).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224028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74C69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240280"/>
            <a:ext cx="54864" cy="109728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28600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48056" y="23317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Design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48056" y="2633472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foliar application of 2% 19:19:19 NPK water-soluble fertilizer at different levels of Recommended Dose of Fertilizer (RDF) on fodder bajra (PHVB 910).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347472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74C69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474720"/>
            <a:ext cx="54864" cy="109728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5204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48056" y="35661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Layout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8056" y="3867912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RCBD with 7 treatments × 3 replications (21 plots total).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09160" y="100584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74C69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1005840"/>
            <a:ext cx="54864" cy="109728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105156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37176" y="109728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37176" y="1399032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green fodder yield in T₂ (3.83 kg/plot); T₄ (75% RDF + foliar) was statistically at par with T₂.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09160" y="224028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74C69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9160" y="2240280"/>
            <a:ext cx="54864" cy="109728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228600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37176" y="23317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37176" y="2633472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11.37 significant at 5% level; CD = 0.82 kg.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09160" y="347472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74C69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09160" y="3474720"/>
            <a:ext cx="54864" cy="109728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35204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37176" y="35661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37176" y="3867912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RDF + foliar spray can match 100% RDF yield → scope for 25% fertilizer saving.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4910328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UAS Bangalore  |  Dept. of Agronomy  |  AGR 312  |  Kharif 2025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503920" y="491032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777240"/>
            <a:ext cx="8979408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914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 &amp; OBJECTIVES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47472" y="576072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fodder bajra? Why foliar nutrition?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4114800" cy="34747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9601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INTRODUCTION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371600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" y="1435608"/>
            <a:ext cx="256032" cy="256032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4356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13232" y="141732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faces ~36% deficit in green fodder &amp; 11% in dry fodder (FAO, 2022).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2039112"/>
            <a:ext cx="4114800" cy="594360"/>
          </a:xfrm>
          <a:prstGeom prst="rect">
            <a:avLst/>
          </a:prstGeom>
          <a:solidFill>
            <a:srgbClr val="D8F3DC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" y="2103120"/>
            <a:ext cx="256032" cy="256032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1031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13232" y="2084832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 millet: fast growth, drought tolerance, high biomass — ideal for Eastern Dry Zone.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706624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4048" y="2770632"/>
            <a:ext cx="256032" cy="256032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27706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13232" y="2752344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soil fertilizer: only 30–50% nutrient use efficiency due to leaching &amp; fixation.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3374136"/>
            <a:ext cx="4114800" cy="594360"/>
          </a:xfrm>
          <a:prstGeom prst="rect">
            <a:avLst/>
          </a:prstGeom>
          <a:solidFill>
            <a:srgbClr val="D8F3DC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048" y="3438144"/>
            <a:ext cx="256032" cy="256032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34381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13232" y="3419856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Foliar fertilization achieves 70–90% uptake efficiency.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4041648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048" y="4105656"/>
            <a:ext cx="256032" cy="256032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41056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13232" y="4087368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NPK 19:19:19 supplies balanced N, P, K simultaneously.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960120"/>
            <a:ext cx="4114800" cy="34747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9601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OBJECTIVES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663440" y="1371600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1371600"/>
            <a:ext cx="320040" cy="5943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1371600"/>
            <a:ext cx="320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47488" y="14173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foliar 2% 19:19:19 at different RDF levels on growth parameters.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63440" y="2039112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63440" y="2039112"/>
            <a:ext cx="320040" cy="5943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63440" y="2039112"/>
            <a:ext cx="320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047488" y="208483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integrated soil + foliar management on green fodder &amp; dry matter yield.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663440" y="2706624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63440" y="2706624"/>
            <a:ext cx="320040" cy="5943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63440" y="2706624"/>
            <a:ext cx="320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047488" y="275234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optimal RDF + foliar combination for maximum fodder yield.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663440" y="3374136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663440" y="3374136"/>
            <a:ext cx="320040" cy="5943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63440" y="3374136"/>
            <a:ext cx="320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047488" y="341985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scope for reducing soil-applied fertilizer via foliar supplementation.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663440" y="4041648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663440" y="4041648"/>
            <a:ext cx="320040" cy="5943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63440" y="4041648"/>
            <a:ext cx="320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047488" y="408736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evidence-based nutrient management recommendations.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74320" y="4910328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UAS Bangalore  |  Dept. of Agronomy  |  AGR 312  |  Kharif 2025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8503920" y="491032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777240"/>
            <a:ext cx="8979408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914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 &amp; METHODS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47472" y="576072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Site, Design &amp; Protocol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2743200" cy="3840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9601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EXPERIMENTAL SITE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1389888"/>
            <a:ext cx="27432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389888"/>
            <a:ext cx="45720" cy="5943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1463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GKVK, Bengaluru — 930 m ASL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2057400"/>
            <a:ext cx="2743200" cy="594360"/>
          </a:xfrm>
          <a:prstGeom prst="rect">
            <a:avLst/>
          </a:prstGeom>
          <a:solidFill>
            <a:srgbClr val="D8F3DC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057400"/>
            <a:ext cx="45720" cy="5943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" y="213055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13°05′N, 77°34′E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2724912"/>
            <a:ext cx="27432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724912"/>
            <a:ext cx="45720" cy="5943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" y="279806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Eastern Dry Zone (Zone-5), Karnataka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3392424"/>
            <a:ext cx="2743200" cy="594360"/>
          </a:xfrm>
          <a:prstGeom prst="rect">
            <a:avLst/>
          </a:prstGeom>
          <a:solidFill>
            <a:srgbClr val="D8F3DC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392424"/>
            <a:ext cx="45720" cy="5943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" y="346557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Erratic rainfall: 600–900 mm/year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4059936"/>
            <a:ext cx="27432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4059936"/>
            <a:ext cx="45720" cy="5943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" y="413308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Kharif 2025 Season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0" y="960120"/>
            <a:ext cx="2743200" cy="384048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0" y="9601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EXPERIMENT DESIGN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00400" y="1389888"/>
            <a:ext cx="27432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1389888"/>
            <a:ext cx="45720" cy="59436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10128" y="1463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RCBD — 7 treatments × 3 reps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0" y="2057400"/>
            <a:ext cx="2743200" cy="594360"/>
          </a:xfrm>
          <a:prstGeom prst="rect">
            <a:avLst/>
          </a:prstGeom>
          <a:solidFill>
            <a:srgbClr val="D8F3DC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0" y="2057400"/>
            <a:ext cx="45720" cy="59436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10128" y="213055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plots total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00400" y="2724912"/>
            <a:ext cx="27432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0" y="2724912"/>
            <a:ext cx="45720" cy="59436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10128" y="279806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Hybrid: PHVB 910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00400" y="3392424"/>
            <a:ext cx="2743200" cy="594360"/>
          </a:xfrm>
          <a:prstGeom prst="rect">
            <a:avLst/>
          </a:prstGeom>
          <a:solidFill>
            <a:srgbClr val="D8F3DC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0" y="3392424"/>
            <a:ext cx="45720" cy="59436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10128" y="346557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Sown: 03-09-2025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200400" y="4059936"/>
            <a:ext cx="27432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00400" y="4059936"/>
            <a:ext cx="45720" cy="59436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10128" y="413308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Spacing: 30 cm × 10 cm, 8–10 kg/ha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080760" y="960120"/>
            <a:ext cx="2743200" cy="38404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80760" y="9601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FOLIAR PROTOCOL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080760" y="1389888"/>
            <a:ext cx="27432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80760" y="1389888"/>
            <a:ext cx="45720" cy="5943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90488" y="1463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 19:19:19 WSF in 100 L water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080760" y="2057400"/>
            <a:ext cx="2743200" cy="594360"/>
          </a:xfrm>
          <a:prstGeom prst="rect">
            <a:avLst/>
          </a:prstGeom>
          <a:solidFill>
            <a:srgbClr val="D8F3DC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080760" y="2057400"/>
            <a:ext cx="45720" cy="5943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90488" y="213055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at 25 DAS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080760" y="2724912"/>
            <a:ext cx="27432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080760" y="2724912"/>
            <a:ext cx="45720" cy="5943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90488" y="279806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Knapsack sprayer, hollow cone nozzle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080760" y="3392424"/>
            <a:ext cx="2743200" cy="594360"/>
          </a:xfrm>
          <a:prstGeom prst="rect">
            <a:avLst/>
          </a:prstGeom>
          <a:solidFill>
            <a:srgbClr val="D8F3DC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080760" y="3392424"/>
            <a:ext cx="45720" cy="5943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190488" y="346557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Spray volume: 500 L/ha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080760" y="4059936"/>
            <a:ext cx="27432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080760" y="4059936"/>
            <a:ext cx="45720" cy="5943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190488" y="413308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morning to avoid leaf scorch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74320" y="4910328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UAS Bangalore  |  Dept. of Agronomy  |  AGR 312  |  Kharif 2025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8503920" y="491032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777240"/>
            <a:ext cx="8979408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914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TREATMENT STRUCTURE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47472" y="576072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Treatments × 3 Replications — RCBD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87552"/>
          <a:ext cx="8503920" cy="3749040"/>
        </p:xfrm>
        <a:graphic>
          <a:graphicData uri="http://schemas.openxmlformats.org/drawingml/2006/table">
            <a:tbl>
              <a:tblPr/>
              <a:tblGrid>
                <a:gridCol w="502920"/>
                <a:gridCol w="4754880"/>
                <a:gridCol w="1143000"/>
                <a:gridCol w="1005840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Treatment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RDF Level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Foliar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T₁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(no fertilizer, no foliar)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T₂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RDF + 5 t FYM ha⁻¹ (UASB POP)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T₃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RDF + 2% 19:19:19 foliar spray at 25 DAS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T₄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 RDF + 2% 19:19:19 foliar spray at 25 DAS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T₅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 RDF + 2% 19:19:19 foliar spray at 25 DAS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T₆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 RDF + 2% 19:19:19 foliar spray at 25 DAS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T₇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 RDF + 2% 19:19:19 foliar spray 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320040" y="4663440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RDF = 100:62.5:25 kg NPK ha⁻¹  |  WSF = Water Soluble Fertilizer 19:19:19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4320" y="4910328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UAS Bangalore  |  Dept. of Agronomy  |  AGR 312  |  Kharif 2025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503920" y="491032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777240"/>
            <a:ext cx="8979408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914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SOIL PROPERTIES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47472" y="576072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Pre-sowing Physico-Chemical Analysis — 0–30 cm depth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87552"/>
          <a:ext cx="5943600" cy="3794760"/>
        </p:xfrm>
        <a:graphic>
          <a:graphicData uri="http://schemas.openxmlformats.org/drawingml/2006/table">
            <a:tbl>
              <a:tblPr/>
              <a:tblGrid>
                <a:gridCol w="1920240"/>
                <a:gridCol w="2651760"/>
                <a:gridCol w="1188720"/>
              </a:tblGrid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Buckman's zerometric pH meter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 (dS/m)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Conductometry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Organic Carbon (%)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Walkey &amp; Black method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Available N (kg/ha)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Alkaline permanganate method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276.8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Available P₂O₅ (kg/ha)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Olsen's method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Available K₂O (kg/ha)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 ammonium acetate method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271.5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International pipette method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 Sandy Loam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92240" y="1097280"/>
            <a:ext cx="2286000" cy="114300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92240" y="11430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492240" y="137160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6.56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6492240" y="18928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Mod. acidic–neutral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492240" y="2395728"/>
            <a:ext cx="2286000" cy="11430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492240" y="24414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N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492240" y="267004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276.8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6492240" y="31912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kg/ha — Medium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492240" y="3694176"/>
            <a:ext cx="2286000" cy="11430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492240" y="373989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K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492240" y="3968496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271.5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6492240" y="44897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kg/ha — High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74320" y="4910328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UAS Bangalore  |  Dept. of Agronomy  |  AGR 312  |  Kharif 2025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8503920" y="491032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777240"/>
            <a:ext cx="8979408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914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PLANT HEIGHT — 30 &amp; 60 DAS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47472" y="576072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treatment differences across growth stages</a:t>
            </a:r>
            <a:endParaRPr lang="en-US" sz="1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20040" y="960120"/>
          <a:ext cx="594360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446520" y="1005840"/>
            <a:ext cx="2377440" cy="109728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46520" y="106070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Tallest @ 60 DAS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446520" y="1261872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123.87 cm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446520" y="168249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T₃ (100% RDF + Foliar)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446520" y="2267712"/>
            <a:ext cx="2377440" cy="109728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446520" y="232257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Par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446520" y="2523744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122.07 cm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446520" y="29443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T₄ — 75% RDF + Foliar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446520" y="3529584"/>
            <a:ext cx="2377440" cy="1097280"/>
          </a:xfrm>
          <a:prstGeom prst="rect">
            <a:avLst/>
          </a:prstGeom>
          <a:solidFill>
            <a:srgbClr val="495057"/>
          </a:solidFill>
          <a:ln w="12700">
            <a:solidFill>
              <a:srgbClr val="49505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446520" y="358444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@ 60 DAS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6446520" y="3785616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61.07 cm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6446520" y="42062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T₁ — lowest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74320" y="4910328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UAS Bangalore  |  Dept. of Agronomy  |  AGR 312  |  Kharif 2025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8503920" y="491032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777240"/>
            <a:ext cx="8979408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914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LEAVES &amp; TILLERS PER PLANT @ 60 DAS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47472" y="576072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Vegetative growth response across treatments</a:t>
            </a:r>
            <a:endParaRPr lang="en-US" sz="1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20040" y="960120"/>
          <a:ext cx="425196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Chart 1" descr=""/>
          <p:cNvGraphicFramePr/>
          <p:nvPr/>
        </p:nvGraphicFramePr>
        <p:xfrm>
          <a:off x="4709160" y="960120"/>
          <a:ext cx="411480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74320" y="4910328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UAS Bangalore  |  Dept. of Agronomy  |  AGR 312  |  Kharif 2025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8503920" y="491032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777240"/>
            <a:ext cx="8979408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914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GREEN FODDER YIELD PER PLOT (kg)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47472" y="576072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yield across 7 treatments  |  Grand Mean = 2.816 kg/plot  |  CD (5%) = 0.82 kg</a:t>
            </a:r>
            <a:endParaRPr lang="en-US" sz="1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20040" y="960120"/>
          <a:ext cx="57607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263640" y="1005840"/>
            <a:ext cx="2560320" cy="11155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263640" y="104241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263640" y="127101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T₂ — 3.83 kg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263640" y="168249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RDF + FYM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263640" y="2286000"/>
            <a:ext cx="2560320" cy="1115568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263640" y="232257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263640" y="255117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T₄ — 3.73 kg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263640" y="296265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RDF + Foliar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263640" y="3566160"/>
            <a:ext cx="2560320" cy="111556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263640" y="360273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263640" y="383133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T₃ — 3.50 kg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263640" y="424281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RDF + Foliar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74320" y="4910328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UAS Bangalore  |  Dept. of Agronomy  |  AGR 312  |  Kharif 2025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8503920" y="491032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777240"/>
            <a:ext cx="8979408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914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REPLICATION-WISE YIELD &amp; TREATMENT RANKING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47472" y="576072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consistency across replications</a:t>
            </a:r>
            <a:endParaRPr lang="en-US" sz="1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20040" y="960120"/>
          <a:ext cx="53035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Chart 1" descr=""/>
          <p:cNvGraphicFramePr/>
          <p:nvPr/>
        </p:nvGraphicFramePr>
        <p:xfrm>
          <a:off x="5760720" y="960120"/>
          <a:ext cx="310896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74320" y="4910328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UAS Bangalore  |  Dept. of Agronomy  |  AGR 312  |  Kharif 2025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8503920" y="491032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777240"/>
            <a:ext cx="8979408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914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STATISTICAL ANALYSIS — ANOVA (RCBD)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47472" y="576072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F-test significant at 5% level  |  CD = 0.82 kg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87552"/>
          <a:ext cx="8503920" cy="2286000"/>
        </p:xfrm>
        <a:graphic>
          <a:graphicData uri="http://schemas.openxmlformats.org/drawingml/2006/table">
            <a:tbl>
              <a:tblPr/>
              <a:tblGrid>
                <a:gridCol w="2560320"/>
                <a:gridCol w="640080"/>
                <a:gridCol w="1005840"/>
                <a:gridCol w="1005840"/>
                <a:gridCol w="1188720"/>
                <a:gridCol w="128016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of Variation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F-Value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F-tab (5%)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Replications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Treatments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17.54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11.37*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20.61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320040" y="333756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Significant at 5% probability level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20040" y="3657600"/>
            <a:ext cx="2011680" cy="10058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20040" y="37124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Mean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20040" y="395020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2.816 kg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2468880" y="3657600"/>
            <a:ext cx="2011680" cy="10058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2468880" y="37124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(%)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2468880" y="395020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18.0%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4617720" y="3657600"/>
            <a:ext cx="2011680" cy="100584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617720" y="37124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@ 5%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617720" y="395020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0.82 kg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6766560" y="3657600"/>
            <a:ext cx="2011680" cy="10058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766560" y="37124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F-calculated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766560" y="395020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11.37*</a:t>
            </a:r>
            <a:endParaRPr lang="en-US" sz="2200" dirty="0"/>
          </a:p>
        </p:txBody>
      </p:sp>
      <p:sp>
        <p:nvSpPr>
          <p:cNvPr id="21" name="Shape 1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74320" y="4910328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UAS Bangalore  |  Dept. of Agronomy  |  AGR 312  |  Kharif 2025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8503920" y="491032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777240"/>
            <a:ext cx="8979408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914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CODE — DATA ANALYSIS &amp; VISUALIZATION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47472" y="576072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· NumPy · SciPy — ANOVA &amp; Chart Generation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8503920" cy="374904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051560"/>
            <a:ext cx="81381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4C6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numpy </a:t>
            </a:r>
            <a:pPr algn="l" indent="0" marL="0">
              <a:buNone/>
            </a:pPr>
            <a:r>
              <a:rPr lang="en-US" sz="1000" dirty="0">
                <a:solidFill>
                  <a:srgbClr val="74C6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np
</a:t>
            </a:r>
            <a:pPr algn="l" indent="0" marL="0">
              <a:buNone/>
            </a:pPr>
            <a:r>
              <a:rPr lang="en-US" sz="1000" dirty="0">
                <a:solidFill>
                  <a:srgbClr val="74C6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matplotlib.pyplot </a:t>
            </a:r>
            <a:pPr algn="l" indent="0" marL="0">
              <a:buNone/>
            </a:pPr>
            <a:r>
              <a:rPr lang="en-US" sz="1000" dirty="0">
                <a:solidFill>
                  <a:srgbClr val="74C6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plt
</a:t>
            </a:r>
            <a:pPr algn="l" indent="0" marL="0">
              <a:buNone/>
            </a:pPr>
            <a:r>
              <a:rPr lang="en-US" sz="1000" dirty="0">
                <a:solidFill>
                  <a:srgbClr val="74C6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scipy </a:t>
            </a:r>
            <a:pPr algn="l" indent="0" marL="0">
              <a:buNone/>
            </a:pPr>
            <a:r>
              <a:rPr lang="en-US" sz="1000" dirty="0">
                <a:solidFill>
                  <a:srgbClr val="74C6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stats
</a:t>
            </a:r>
            <a:pPr algn="l"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Treatments &amp; mean fodder yield
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treatments </a:t>
            </a:r>
            <a:pPr algn="l" indent="0" marL="0">
              <a:buNone/>
            </a:pPr>
            <a:r>
              <a:rPr lang="en-US" sz="10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algn="l"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['T1','T2','T3','T4','T5','T6','T7']
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yields </a:t>
            </a:r>
            <a:pPr algn="l" indent="0" marL="0">
              <a:buNone/>
            </a:pPr>
            <a:r>
              <a:rPr lang="en-US" sz="10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np.array([</a:t>
            </a:r>
            <a:pPr algn="l" indent="0" marL="0">
              <a:buNone/>
            </a:pPr>
            <a:r>
              <a:rPr lang="en-US" sz="10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1.93,3.83,3.50,3.73,2.80,2.27,1.60</a:t>
            </a:r>
            <a:pPr algn="l" indent="0" marL="0">
              <a:buNone/>
            </a:pPr>
            <a:r>
              <a:rPr lang="en-US" sz="10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
</a:t>
            </a:r>
            <a:pPr algn="l"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One-way ANOVA (F-test)
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 </a:t>
            </a:r>
            <a:pPr algn="l" indent="0" marL="0">
              <a:buNone/>
            </a:pPr>
            <a:r>
              <a:rPr lang="en-US" sz="10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np.array([</a:t>
            </a:r>
            <a:pPr algn="l" indent="0" marL="0">
              <a:buNone/>
            </a:pPr>
            <a:r>
              <a:rPr lang="en-US" sz="10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2.7,4.3,4.1,3.2,2.4,2.3,1.5</a:t>
            </a:r>
            <a:pPr algn="l" indent="0" marL="0">
              <a:buNone/>
            </a:pPr>
            <a:r>
              <a:rPr lang="en-US" sz="10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
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f_stat, p_val </a:t>
            </a:r>
            <a:pPr algn="l" indent="0" marL="0">
              <a:buNone/>
            </a:pPr>
            <a:r>
              <a:rPr lang="en-US" sz="10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stats.f_oneway(r1, r2, r3)
</a:t>
            </a:r>
            <a:pPr algn="l"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(f"F = {f_stat:.2f}, p = {p_val:.4f}")
</a:t>
            </a:r>
            <a:pPr algn="l"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Bar chart
</a:t>
            </a:r>
            <a:pPr algn="l" indent="0" marL="0">
              <a:buNone/>
            </a:pPr>
            <a:r>
              <a:rPr lang="en-US" sz="10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plt.figure(figsize=(</a:t>
            </a:r>
            <a:pPr algn="l" indent="0" marL="0">
              <a:buNone/>
            </a:pPr>
            <a:r>
              <a:rPr lang="en-US" sz="10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algn="l" indent="0" marL="0">
              <a:buNone/>
            </a:pPr>
            <a:r>
              <a:rPr lang="en-US" sz="10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buNone/>
            </a:pPr>
            <a:r>
              <a:rPr lang="en-US" sz="10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algn="l" indent="0" marL="0">
              <a:buNone/>
            </a:pPr>
            <a:r>
              <a:rPr lang="en-US" sz="10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
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bars </a:t>
            </a:r>
            <a:pPr algn="l" indent="0" marL="0">
              <a:buNone/>
            </a:pPr>
            <a:r>
              <a:rPr lang="en-US" sz="10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plt.bar(treatments, yields, color=</a:t>
            </a:r>
            <a:pPr algn="l"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'#52B788'</a:t>
            </a:r>
            <a:pPr algn="l" indent="0" marL="0">
              <a:buNone/>
            </a:pPr>
            <a:r>
              <a:rPr lang="en-US" sz="10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pPr algn="l" indent="0" marL="0">
              <a:buNone/>
            </a:pPr>
            <a:r>
              <a:rPr lang="en-US" sz="10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plt.title(</a:t>
            </a:r>
            <a:pPr algn="l"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'Green Fodder Yield (kg/plot)'</a:t>
            </a:r>
            <a:pPr algn="l" indent="0" marL="0">
              <a:buNone/>
            </a:pPr>
            <a:r>
              <a:rPr lang="en-US" sz="10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pPr algn="l" indent="0" marL="0">
              <a:buNone/>
            </a:pPr>
            <a:r>
              <a:rPr lang="en-US" sz="10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plt.savefig(</a:t>
            </a:r>
            <a:pPr algn="l"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'yield_chart.png'</a:t>
            </a:r>
            <a:pPr algn="l" indent="0" marL="0">
              <a:buNone/>
            </a:pPr>
            <a:r>
              <a:rPr lang="en-US" sz="10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dpi=</a:t>
            </a:r>
            <a:pPr algn="l" indent="0" marL="0">
              <a:buNone/>
            </a:pPr>
            <a:r>
              <a:rPr lang="en-US" sz="10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300</a:t>
            </a:r>
            <a:pPr algn="l" indent="0" marL="0">
              <a:buNone/>
            </a:pPr>
            <a:r>
              <a:rPr lang="en-US" sz="10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910328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UAS Bangalore  |  Dept. of Agronomy  |  AGR 312  |  Kharif 2025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503920" y="491032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13/17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777240"/>
            <a:ext cx="8979408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914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SCOPE — AI, IoT &amp; PRECISION AGRICULTURE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47472" y="576072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fodder bajra production through digital agriculture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987552"/>
            <a:ext cx="278892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1B43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987552"/>
            <a:ext cx="2788920" cy="3840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02412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/ ML Models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41732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· Scikit-learn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1655064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optimal foliar spray dose &amp; timing from soil NPK + weather + NDVI inputs.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27832" y="987552"/>
            <a:ext cx="278892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27832" y="987552"/>
            <a:ext cx="2788920" cy="38404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9272" y="102412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IoT Sensors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19272" y="141732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· ESP32 · LoRaWAN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319272" y="1655064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soil moisture, EC, leaf temperature → cloud dashboard for timely intervention.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35624" y="987552"/>
            <a:ext cx="278892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40916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35624" y="987552"/>
            <a:ext cx="2788920" cy="384048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27064" y="102412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🚁  Drone Spraying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27064" y="141732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DJI Agras T40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227064" y="1655064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variable-rate foliar spray — 20–30% fertilizer saving vs knapsack sprayer.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2862072"/>
            <a:ext cx="278892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76F5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2862072"/>
            <a:ext cx="2788920" cy="38404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289864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🛰️  Remote Sensing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" y="329184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Sentinel-2 · Google Earth Engine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11480" y="3529584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NDVI/NDRE tracking at field scale → identify nutrient stress zones for targeted foliar.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27832" y="2862072"/>
            <a:ext cx="278892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27832" y="2862072"/>
            <a:ext cx="2788920" cy="38404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19272" y="289864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👁️  Computer Vision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319272" y="329184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· OpenCV · PyTorch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319272" y="3529584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plant height, tiller count &amp; LAI estimation — non-destructive, continuous.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35624" y="2862072"/>
            <a:ext cx="278892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35624" y="2862072"/>
            <a:ext cx="2788920" cy="38404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27064" y="289864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Digital Twin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27064" y="329184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DSSAT · APSIM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227064" y="3529584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treatment response under projected climate scenarios without field trials.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4910328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UAS Bangalore  |  Dept. of Agronomy  |  AGR 312  |  Kharif 2025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503920" y="491032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14/17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777240"/>
            <a:ext cx="8979408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914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OF LITERATURE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47472" y="576072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supporting foliar fertilization in pearl millet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987552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B43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987552"/>
            <a:ext cx="4206240" cy="34747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03327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Rundla &amp; Bairwa (2018)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9768" y="1389888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Foliar N, P, K spray significantly enhanced yield &amp; economic returns of pearl millet vs soil-only application.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987552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987552"/>
            <a:ext cx="4206240" cy="34747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3168" y="103327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Patel et al. (2019)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73168" y="1389888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19:19:19 + ZnSO₄ foliar → tallest plants (~163.9 cm), more tillers, higher straw yield under moisture-limited conditions.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2313432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40916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313432"/>
            <a:ext cx="4206240" cy="347472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" y="235915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Lagad et al. (2020)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29768" y="2715768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 urea foliar @ 40 DAS in forage sorghum → 589.83 q/ha green fodder yield, significantly higher economic returns.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63440" y="2313432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76F5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313432"/>
            <a:ext cx="4206240" cy="34747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235915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Logesh Kumar &amp; Sankaran (2020)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73168" y="2715768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soil + foliar treatments improved yield over soil-only or foliar-only treatments under rainfed conditions.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3639312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3639312"/>
            <a:ext cx="4206240" cy="34747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9768" y="368503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Srivani et al. (2021)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29768" y="4041648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Nano-urea foliar spray enhanced N use efficiency, chlorophyll, tiller count and root biomass in fodder bajra.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63440" y="3639312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3639312"/>
            <a:ext cx="4206240" cy="34747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73168" y="368503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Avachar &amp; Prabhakar (2024)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73168" y="4041648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Foliar nutrient application in silage maize improved nutrient uptake efficiency and biomass productivity.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4910328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UAS Bangalore  |  Dept. of Agronomy  |  AGR 312  |  Kharif 2025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503920" y="491032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15/17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CONCLUSIONS &amp; RECOMMENDATIONS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of Foliar Application on Growth &amp; Yield of Fodder Bajra  |  UAS Bangalore  |  Kharif 2025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261872"/>
            <a:ext cx="4206240" cy="1024128"/>
          </a:xfrm>
          <a:prstGeom prst="rect">
            <a:avLst/>
          </a:prstGeom>
          <a:solidFill>
            <a:srgbClr val="1F4E3D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426464"/>
            <a:ext cx="402336" cy="402336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26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137160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Foliar 2% 19:19:19 @ 25 DAS significantly enhanced growth &amp; fodder yield when combined with soil RDF.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1261872"/>
            <a:ext cx="4206240" cy="1024128"/>
          </a:xfrm>
          <a:prstGeom prst="rect">
            <a:avLst/>
          </a:prstGeom>
          <a:solidFill>
            <a:srgbClr val="1F4E3D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0600" y="1426464"/>
            <a:ext cx="402336" cy="402336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426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03520" y="137160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T₂ (100% RDF + FYM) recorded highest yield — 3.83 kg/plot — the most productive treatment.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432304"/>
            <a:ext cx="4206240" cy="1024128"/>
          </a:xfrm>
          <a:prstGeom prst="rect">
            <a:avLst/>
          </a:prstGeom>
          <a:solidFill>
            <a:srgbClr val="1F4E3D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2596896"/>
            <a:ext cx="402336" cy="402336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5968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2542032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T₄ (75% RDF + Foliar) was statistically at par with T₂ → scope for 25% fertilizer saving.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09160" y="2432304"/>
            <a:ext cx="4206240" cy="1024128"/>
          </a:xfrm>
          <a:prstGeom prst="rect">
            <a:avLst/>
          </a:prstGeom>
          <a:solidFill>
            <a:srgbClr val="1F4E3D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00600" y="2596896"/>
            <a:ext cx="402336" cy="402336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25968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03520" y="2542032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T₃ (100% RDF + Foliar) confirmed additive benefit of foliar nutrition over soil-only treatment.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3602736"/>
            <a:ext cx="4206240" cy="1024128"/>
          </a:xfrm>
          <a:prstGeom prst="rect">
            <a:avLst/>
          </a:prstGeom>
          <a:solidFill>
            <a:srgbClr val="1F4E3D"/>
          </a:solidFill>
          <a:ln w="12700">
            <a:solidFill>
              <a:srgbClr val="49505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3767328"/>
            <a:ext cx="402336" cy="402336"/>
          </a:xfrm>
          <a:prstGeom prst="ellipse">
            <a:avLst/>
          </a:prstGeom>
          <a:solidFill>
            <a:srgbClr val="495057"/>
          </a:solidFill>
          <a:ln w="12700">
            <a:solidFill>
              <a:srgbClr val="4950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767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14400" y="3712464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Foliar spray alone (T₇: 0% RDF) cannot substitute soil fertilization — lowest yield recorded.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09160" y="3602736"/>
            <a:ext cx="4206240" cy="1024128"/>
          </a:xfrm>
          <a:prstGeom prst="rect">
            <a:avLst/>
          </a:prstGeom>
          <a:solidFill>
            <a:srgbClr val="1F4E3D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00600" y="3767328"/>
            <a:ext cx="402336" cy="402336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3767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06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303520" y="3712464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RECOMMENDED: T₃ and T₄ for sustainable &amp; cost-effective fodder bajra in Eastern Dry Zone, Karnataka.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D2B1E"/>
          </a:solidFill>
          <a:ln w="12700">
            <a:solidFill>
              <a:srgbClr val="0D2B1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93776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UAS Bangalore  |  Dept. of Agronomy  |  AGR 312  |  Kharif 2025  |  16/17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D6A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972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2743200" y="2331720"/>
            <a:ext cx="3657600" cy="457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5146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8F3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Effect of Foliar Application on Growth &amp; Yield of Pearl Millet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8F3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Pennisetum glaucum L.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337560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Bhoomika D (AMB2037)  ·  K Bhumika (AMB2039)  ·  Lekhana B M (AMB2115)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3749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UAS GKVK, Bengaluru  |  EAI-421  |  Kharif 2025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Effect of Foliar Application on Growth and Yield of Pearl Millet</dc:title>
  <dc:subject>PptxGenJS Presentation</dc:subject>
  <dc:creator>PptxGenJS</dc:creator>
  <cp:lastModifiedBy>PptxGenJS</cp:lastModifiedBy>
  <cp:revision>1</cp:revision>
  <dcterms:created xsi:type="dcterms:W3CDTF">2026-04-02T03:26:17Z</dcterms:created>
  <dcterms:modified xsi:type="dcterms:W3CDTF">2026-04-02T03:26:17Z</dcterms:modified>
</cp:coreProperties>
</file>
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@ 30 DAS (cm)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37.299999999999997</c:v>
                </c:pt>
                <c:pt idx="1">
                  <c:v>70.599999999999994</c:v>
                </c:pt>
                <c:pt idx="2">
                  <c:v>73.66</c:v>
                </c:pt>
                <c:pt idx="3">
                  <c:v>72</c:v>
                </c:pt>
                <c:pt idx="4">
                  <c:v>68.2</c:v>
                </c:pt>
                <c:pt idx="5">
                  <c:v>51.53</c:v>
                </c:pt>
                <c:pt idx="6">
                  <c:v>35.53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0-4426-A644-CD1B1677F2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@ 60 DAS (cm)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61.07</c:v>
                </c:pt>
                <c:pt idx="1">
                  <c:v>121.13</c:v>
                </c:pt>
                <c:pt idx="2">
                  <c:v>123.87</c:v>
                </c:pt>
                <c:pt idx="3">
                  <c:v>122.07</c:v>
                </c:pt>
                <c:pt idx="4">
                  <c:v>115.8</c:v>
                </c:pt>
                <c:pt idx="5">
                  <c:v>87.4</c:v>
                </c:pt>
                <c:pt idx="6">
                  <c:v>63.33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0-4426-A644-CD1B1677F2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No. of Leaves /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Leaves / Plant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19</c:v>
                </c:pt>
                <c:pt idx="2">
                  <c:v>19</c:v>
                </c:pt>
                <c:pt idx="3">
                  <c:v>17</c:v>
                </c:pt>
                <c:pt idx="4">
                  <c:v>18</c:v>
                </c:pt>
                <c:pt idx="5">
                  <c:v>16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BB-4105-83FD-FB5D7F88A7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No. of Tillers /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Tillers / Plant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D4-4F52-B613-52AABEDFA0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Fodder Yield (kg/plot)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2E-4C91-B6F1-7F9DF1D5E614}"/>
              </c:ext>
            </c:extLst>
          </c:dPt>
          <c:dPt>
            <c:idx val="1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2E-4C91-B6F1-7F9DF1D5E614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2E-4C91-B6F1-7F9DF1D5E61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E2E-4C91-B6F1-7F9DF1D5E614}"/>
              </c:ext>
            </c:extLst>
          </c:dPt>
          <c:dPt>
            <c:idx val="4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E2E-4C91-B6F1-7F9DF1D5E614}"/>
              </c:ext>
            </c:extLst>
          </c:dPt>
          <c:dPt>
            <c:idx val="5"/>
            <c:invertIfNegative val="0"/>
            <c:bubble3D val="0"/>
            <c:spPr>
              <a:solidFill>
                <a:srgbClr val="ADB5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E2E-4C91-B6F1-7F9DF1D5E614}"/>
              </c:ext>
            </c:extLst>
          </c:dPt>
          <c:dPt>
            <c:idx val="6"/>
            <c:invertIfNegative val="0"/>
            <c:bubble3D val="0"/>
            <c:spPr>
              <a:solidFill>
                <a:srgbClr val="495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E2E-4C91-B6F1-7F9DF1D5E6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
Control</c:v>
                </c:pt>
                <c:pt idx="1">
                  <c:v>T₂
100%RDF+FYM</c:v>
                </c:pt>
                <c:pt idx="2">
                  <c:v>T₃
100%RDF+Foliar</c:v>
                </c:pt>
                <c:pt idx="3">
                  <c:v>T₄
75%RDF+Foliar</c:v>
                </c:pt>
                <c:pt idx="4">
                  <c:v>T₅
50%RDF+Foliar</c:v>
                </c:pt>
                <c:pt idx="5">
                  <c:v>T₆
25%RDF+Foliar</c:v>
                </c:pt>
                <c:pt idx="6">
                  <c:v>T₇
0%RDF+Foliar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1.93</c:v>
                </c:pt>
                <c:pt idx="1">
                  <c:v>3.83</c:v>
                </c:pt>
                <c:pt idx="2">
                  <c:v>3.5</c:v>
                </c:pt>
                <c:pt idx="3">
                  <c:v>3.73</c:v>
                </c:pt>
                <c:pt idx="4">
                  <c:v>2.8</c:v>
                </c:pt>
                <c:pt idx="5">
                  <c:v>2.27</c:v>
                </c:pt>
                <c:pt idx="6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E2E-4C91-B6F1-7F9DF1D5E6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Replication 1 (kg)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4.3</c:v>
                </c:pt>
                <c:pt idx="2">
                  <c:v>4.0999999999999996</c:v>
                </c:pt>
                <c:pt idx="3">
                  <c:v>3.2</c:v>
                </c:pt>
                <c:pt idx="4">
                  <c:v>2.4</c:v>
                </c:pt>
                <c:pt idx="5">
                  <c:v>2.2999999999999998</c:v>
                </c:pt>
                <c:pt idx="6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C-4ED6-B9DD-86F3C8DCE4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Replication 2 (kg)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1.5</c:v>
                </c:pt>
                <c:pt idx="1">
                  <c:v>3.8</c:v>
                </c:pt>
                <c:pt idx="2">
                  <c:v>3.3</c:v>
                </c:pt>
                <c:pt idx="3">
                  <c:v>4.0999999999999996</c:v>
                </c:pt>
                <c:pt idx="4">
                  <c:v>3.1</c:v>
                </c:pt>
                <c:pt idx="5">
                  <c:v>2.1</c:v>
                </c:pt>
                <c:pt idx="6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3C-4ED6-B9DD-86F3C8DCE4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Replication 3 (kg)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1.6</c:v>
                </c:pt>
                <c:pt idx="1">
                  <c:v>3.4</c:v>
                </c:pt>
                <c:pt idx="2">
                  <c:v>3.1</c:v>
                </c:pt>
                <c:pt idx="3">
                  <c:v>3.9</c:v>
                </c:pt>
                <c:pt idx="4">
                  <c:v>2.9</c:v>
                </c:pt>
                <c:pt idx="5">
                  <c:v>2.4</c:v>
                </c:pt>
                <c:pt idx="6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3C-4ED6-B9DD-86F3C8DCE4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Ranked Treatment Yield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 (kg/plot)</c:v>
                </c:pt>
              </c:strCache>
            </c:strRef>
          </c:tx>
          <c:spPr>
            <a:solidFill>
              <a:srgbClr val="4950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8C-4889-BE35-8CD59D4B3FA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08C-4889-BE35-8CD59D4B3FAC}"/>
              </c:ext>
            </c:extLst>
          </c:dPt>
          <c:dPt>
            <c:idx val="2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8C-4889-BE35-8CD59D4B3FAC}"/>
              </c:ext>
            </c:extLst>
          </c:dPt>
          <c:dPt>
            <c:idx val="3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8C-4889-BE35-8CD59D4B3FAC}"/>
              </c:ext>
            </c:extLst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08C-4889-BE35-8CD59D4B3FAC}"/>
              </c:ext>
            </c:extLst>
          </c:dPt>
          <c:dPt>
            <c:idx val="5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08C-4889-BE35-8CD59D4B3FAC}"/>
              </c:ext>
            </c:extLst>
          </c:dPt>
          <c:dPt>
            <c:idx val="6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08C-4889-BE35-8CD59D4B3F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T₇</c:v>
                </c:pt>
                <c:pt idx="1">
                  <c:v>T₁</c:v>
                </c:pt>
                <c:pt idx="2">
                  <c:v>T₆</c:v>
                </c:pt>
                <c:pt idx="3">
                  <c:v>T₅</c:v>
                </c:pt>
                <c:pt idx="4">
                  <c:v>T₃</c:v>
                </c:pt>
                <c:pt idx="5">
                  <c:v>T₄</c:v>
                </c:pt>
                <c:pt idx="6">
                  <c:v>T₂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1.93</c:v>
                </c:pt>
                <c:pt idx="2">
                  <c:v>2.27</c:v>
                </c:pt>
                <c:pt idx="3">
                  <c:v>2.8</c:v>
                </c:pt>
                <c:pt idx="4">
                  <c:v>3.5</c:v>
                </c:pt>
                <c:pt idx="5">
                  <c:v>3.73</c:v>
                </c:pt>
                <c:pt idx="6">
                  <c:v>3.83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08C-4889-BE35-8CD59D4B3F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99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3188-0476-EC55-C7FB-161EC26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06DD-F06A-4DEB-BAF9-D004C5F671F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0714A-FEC9-22D9-22A0-CEF8A14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2963-77B7-6B47-97D6-67BC656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EF4B1-28E1-4B50-A850-AB095ED2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7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624078" y="557581"/>
            <a:ext cx="805815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540"/>
              </a:spcBef>
              <a:spcAft>
                <a:spcPts val="540"/>
              </a:spcAft>
            </a:pPr>
            <a:r>
              <a:rPr lang="en-IN" sz="1500" b="1" kern="100" dirty="0">
                <a:solidFill>
                  <a:srgbClr val="C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1500" kern="100" dirty="0">
              <a:solidFill>
                <a:srgbClr val="C00000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4375355" y="3192847"/>
            <a:ext cx="4306873" cy="1614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Team: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BHOOMIKA D – AMB2037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K BHUMIKA- AMB2039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LEKHANA B M- AMB2115</a:t>
            </a:r>
            <a:endParaRPr lang="en-US" sz="1500" b="1" dirty="0">
              <a:latin typeface="Century Gothic" pitchFamily="34" charset="0"/>
              <a:cs typeface="Tahoma" pitchFamily="34" charset="0"/>
            </a:endParaRPr>
          </a:p>
        </p:txBody>
      </p:sp>
      <p:pic>
        <p:nvPicPr>
          <p:cNvPr id="4" name="Picture 2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583" y="3192847"/>
            <a:ext cx="1631972" cy="1565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1583436" y="246873"/>
            <a:ext cx="6429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REPORT</a:t>
            </a:r>
            <a:endParaRPr lang="en-IN" sz="15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1045845" y="1392173"/>
            <a:ext cx="7214616" cy="1252703"/>
          </a:xfrm>
          <a:prstGeom prst="roundRect">
            <a:avLst>
              <a:gd name="adj" fmla="val 166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</a:t>
            </a:r>
            <a:r>
              <a:rPr lang="en-US" sz="2000" b="1" i="1" dirty="0" err="1" smtClean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Title:</a:t>
            </a:r>
            <a:r>
              <a:rPr lang="en-US" sz="20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</a:t>
            </a:r>
            <a:endParaRPr lang="en-US" sz="2000" b="1" dirty="0" smtClean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US" sz="16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</a:t>
            </a:r>
            <a:r>
              <a:rPr lang="en-US" sz="1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FOLIAR APPLICATION ON</a:t>
            </a:r>
            <a:endParaRPr lang="en-US" sz="1600" dirty="0"/>
          </a:p>
          <a:p>
            <a:pPr algn="ctr"/>
            <a:r>
              <a:rPr lang="en-US" sz="2400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EFFECT OF FOLIAR APPLICATION ON GROWTH AND YIELD OF PEARL MILLET</a:t>
            </a:r>
          </a:p>
          <a:p>
            <a:pPr algn="ctr"/>
            <a:r>
              <a:rPr lang="en-US" b="1" i="1" dirty="0" err="1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Pennisetum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 </a:t>
            </a:r>
            <a:r>
              <a:rPr lang="en-US" b="1" i="1" dirty="0" err="1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glaucum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 L.</a:t>
            </a:r>
            <a:endParaRPr lang="en-US" b="1" i="1" dirty="0">
              <a:solidFill>
                <a:schemeClr val="accent1">
                  <a:lumMod val="75000"/>
                </a:schemeClr>
              </a:solidFill>
              <a:latin typeface="Century Gothic" pitchFamily="34" charset="0"/>
              <a:cs typeface="Tahoma" pitchFamily="34" charset="0"/>
            </a:endParaRPr>
          </a:p>
          <a:p>
            <a:pPr algn="ctr"/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2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Millet Foliar Application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1978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study, key results &amp; conclusions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1261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746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deficit, foliar efficiency, research goals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8105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523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design &amp; foliar protocol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359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843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 — RCBD layout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2907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429000"/>
            <a:ext cx="347472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33924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Properties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Pre-sowing physico-chemical analysis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0" y="3456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977640"/>
            <a:ext cx="347472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" y="3941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Parameters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41696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height, leaves &amp; tillers per plant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0" y="4005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1234440"/>
            <a:ext cx="347472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47488" y="11978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Results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47488" y="1426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fodder yield &amp; replication-wise analysis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1261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10–11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1783080"/>
            <a:ext cx="347472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47488" y="17465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47488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(RCBD) — F-test, CD &amp; grand mean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1810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17720" y="2331720"/>
            <a:ext cx="347472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47488" y="2295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&amp; AI Tools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47488" y="2523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visualization &amp; AI scope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17720" y="2880360"/>
            <a:ext cx="347472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47488" y="2843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47488" y="3072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research on foliar fertilization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17720" y="3429000"/>
            <a:ext cx="347472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47488" y="33924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47488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Eastern Dry Zone, Karnataka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46720" y="3456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26280" y="1170432"/>
            <a:ext cx="36576" cy="37033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9103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Study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1399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during Kharif 2025 at Instructional Farm, UAS GKVK, Bengaluru (Eastern Dry Zone, Karnataka).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" y="2633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foliar application of 2% 19:19:19 NPK water-soluble fertilizer at different levels of Recommended Dose of Fertilizer (RDF) on fodder bajra (PHVB 910).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7472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" y="3566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Layout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" y="38679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with 7 treatments × 3 replications (21 plots total).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51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7176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37176" y="1399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green fodder yield in T₂ (3.83 kg/plot); T₄ (75% RDF + foliar) was statistically at par with T₂.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24028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86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37176" y="2331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26334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11.37 significant at 5% level; CD = 0.82 kg.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474720"/>
            <a:ext cx="54864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7176" y="3566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37176" y="38679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 spray can match 100% RDF yield → scope for 25% fertilizer saving.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fodder bajra? Why foliar nutrition?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435608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4173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faces ~36% deficit in green fodder &amp; 11% in dry fodder (FAO, 2022).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39112"/>
            <a:ext cx="41148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03120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08483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millet: fast growth, drought tolerance, high biomass — ideal for Eastern Dry Zone.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770632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27523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soil fertilizer: only 30–50% nutrient use efficiency due to leaching &amp; fixation.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74136"/>
            <a:ext cx="41148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438144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4198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fertilization achieves 70–90% uptake efficiency.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041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4105656"/>
            <a:ext cx="256032" cy="256032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40873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19:19:19 supplies balanced N, P, K simultaneously.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371600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3716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foliar 2% 19:19:19 at different RDF levels on growth parameters.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03911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039112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03911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integrated soil + foliar management on green fodder &amp; dry matter yield.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706624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70662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2752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optimal RDF + foliar combination for maximum fodder yield.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37413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374136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37413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47488" y="3419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scope for reducing soil-applied fertilizer via foliar supplementation.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4041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041648"/>
            <a:ext cx="3200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041648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47488" y="4087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nutrient management recommendations.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Design &amp; Protocol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EXPERIMENTAL SITE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9888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GKVK, Bengaluru — 930 m ASL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13°05′N, 77°34′E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24912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Dry Zone (Zone-5), Karnataka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92424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rainfall: 600–900 mm/year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59936"/>
            <a:ext cx="4572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2025 Season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EXPERIMENT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1389888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— 7 treatments × 3 reps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057400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plots total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724912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PHVB 910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392424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Sown: 03-09-2025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4059936"/>
            <a:ext cx="4572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Spacing: 30 cm × 10 cm, 8–10 kg/ha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FOLIAR PROTOCOL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1389888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19:19:19 WSF in 100 L water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2057400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205740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2130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25 DAS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272491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2724912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048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sprayer, hollow cone nozzle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0760" y="3392424"/>
            <a:ext cx="27432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3392424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volume: 500 L/ha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405993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059936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to avoid leaf scorch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 — RCBD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7406640" cy="343814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(no fertilizer, no foliar)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+ 5 t FYM ha⁻¹ (UASB POP)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RDF + 2% 19:19:19 foliar spray at 25 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RDF + 2% 19:19:19 foliar spray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= 100:62.5:25 kg NPK ha⁻¹  |  WSF = Water Soluble Fertilizer 19:19:19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PROPERTIES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Pre-sowing Physico-Chemical Analysis — 0–30 cm depth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5760720" cy="343814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Buckman's zerometric pH 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(dS/m)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Carbon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Walkey &amp; Black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N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Alkaline permanganate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P₂O₅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Olsen's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K₂O (kg/ha)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ammonium acetate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pipette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Sandy Loam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92240" y="1097280"/>
            <a:ext cx="2286000" cy="1143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9224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9224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Mod. acidic–neutral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2395728"/>
            <a:ext cx="228600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441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26700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276.8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9224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Medium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3694176"/>
            <a:ext cx="2286000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92240" y="3968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271.5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92240" y="4489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High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HEIGHT — 30 &amp; 60 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treatment differences across growth stages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005840"/>
            <a:ext cx="23774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060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@ 60 DAS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46520" y="1261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123.87 cm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4652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46520" y="2267712"/>
            <a:ext cx="2377440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23225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46520" y="25237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122.07 cm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4652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— 75% RDF + Foliar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46520" y="3529584"/>
            <a:ext cx="2377440" cy="1097280"/>
          </a:xfrm>
          <a:prstGeom prst="rect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46520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@ 60 DAS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46520" y="3785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61.07 cm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4652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 — lowest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LEAVES &amp; TILLERS PER PLANT @ 60 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 response across treatments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4251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96012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FODDER YIELD PER PLOT (kg)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 across 7 treatments  |  Grand Mean = 2.816 kg/plot  |  CD (5%) = 0.82 kg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005840"/>
            <a:ext cx="2560320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63640" y="12710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T₂ — 3.83 kg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63640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FYM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2560320" cy="11155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63640" y="2551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T₄ — 3.73 kg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63640" y="2962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63640" y="3566160"/>
            <a:ext cx="2560320" cy="11155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6364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63640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T₃ — 3.50 kg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6364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Foliar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REPLICATION-WISE YIELD &amp; TREATMENT RANKING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consistency across replications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5760720" y="960120"/>
          <a:ext cx="3108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 — ANOVA (RCBD)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significant at 5% level  |  CD = 0.82 kg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7680960" cy="2057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Variation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(5%)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11.37*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Significant at 5% probability level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3657600"/>
            <a:ext cx="201168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2.816 kg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468880" y="3657600"/>
            <a:ext cx="201168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10"/>
          <p:cNvSpPr/>
          <p:nvPr/>
        </p:nvSpPr>
        <p:spPr>
          <a:xfrm>
            <a:off x="246888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(%)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6888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18.0%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617720" y="3657600"/>
            <a:ext cx="201168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 kg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766560" y="3657600"/>
            <a:ext cx="201168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F-calculated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0" y="3950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11.37*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CODE — DATA ANALYSIS &amp; VISUALIZATION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NumPy · SciPy — ANOVA &amp; Chart Generation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8138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 </a:t>
            </a:r>
            <a:r>
              <a:rPr lang="en-US" sz="10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stats
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Treatments &amp; mean fodder yield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['T1','T2','T3','T4','T5','T6','T7']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np.array([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1.93,3.83,3.50,3.73,2.80,2.27,1.60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One-way ANOVA (F-test)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np.array([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2.7,4.3,4.1,3.2,2.4,2.3,1.5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f_stat, p_val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stats.f_oneway(r1, r2, r3)
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(f"F = {f_stat:.2f}, p = {p_val:.4f}")
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 chart
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 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plt.bar(treatments, yields, color=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'#52B788'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plt.title(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'Green Fodder Yield (kg/plot)'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plt.savefig(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'yield_chart.png'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dpi=</a:t>
            </a: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— AI, IoT &amp; PRECISION AGRICULTURE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fodder bajra production through digital agriculture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27889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Scikit-learn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foliar spray dose &amp; timing from soil NPK + weather + NDVI inputs.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987552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Sensors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9272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ESP32 · LoRaWAN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soil moisture, EC, leaf temperature → cloud dashboard for timely intervention.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35624" y="98755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987552"/>
            <a:ext cx="278892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024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Drone Spraying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Agras T40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27064" y="165506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variable-rate foliar spray — 20–30% fertilizer saving vs knapsack sprayer.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62072"/>
            <a:ext cx="278892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Remote Sensing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Google Earth Engine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NDVI/NDRE tracking at field scale → identify nutrient stress zones for targeted foliar.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27832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2862072"/>
            <a:ext cx="27889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Computer Vision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9272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· OpenCV · PyTorch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9272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plant height, tiller count &amp; LAI estimation — non-destructive, continuous.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2862072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2862072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Digital Twin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32918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 · APSIM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27064" y="352958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treatment response under projected climate scenarios without field trials.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77240"/>
            <a:ext cx="89794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 LITERATURE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supporting foliar fertilization in pearl millet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420624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Rundla &amp; Bairwa (2018)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389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N, P, K spray significantly enhanced yield &amp; economic returns of pearl millet vs soil-only application.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33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et al. (2019)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1389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19:19:19 + ZnSO₄ foliar → tallest plants (~163.9 cm), more tillers, higher straw yield under moisture-limited conditions.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13432"/>
            <a:ext cx="420624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Lagad et al. (2020)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7157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urea foliar @ 40 DAS in forage sorghum → 589.83 q/ha green fodder yield, significantly higher economic returns.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13432"/>
            <a:ext cx="420624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Logesh Kumar &amp; Sankaran (2020)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7157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soil + foliar treatments improved yield over soil-only or foliar-only treatments under rainfed conditions.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39312"/>
            <a:ext cx="420624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685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Srivani et al. (2021)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Nano-urea foliar spray enhanced N use efficiency, chlorophyll, tiller count and root biomass in fodder bajra.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639312"/>
            <a:ext cx="420624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685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Avachar &amp; Prabhakar (2024)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nutrient application in silage maize improved nutrient uptake efficiency and biomass productivity.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9103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Foliar Application on Growth &amp; Yield of Fodder Bajra  |  UAS Bangalore  |  Kharif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402336" cy="40233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2% 19:19:19 @ 25 DAS significantly enhanced growth &amp; fodder yield when combined with soil RDF.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426464"/>
            <a:ext cx="402336" cy="40233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(100% RDF + FYM) recorded highest yield — 3.83 kg/plot — the most productive treatment.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96896"/>
            <a:ext cx="402336" cy="40233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5420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(75% RDF + Foliar) was statistically at par with T₂ → scope for 25% fertilizer saving.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432304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596896"/>
            <a:ext cx="402336" cy="40233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5420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 confirmed additive benefit of foliar nutrition over soil-only treatment.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02736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67328"/>
            <a:ext cx="402336" cy="402336"/>
          </a:xfrm>
          <a:prstGeom prst="ellipse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7124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spray alone (T₇: 0% RDF) cannot substitute soil fertilization — lowest yield recorded.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602736"/>
            <a:ext cx="4206240" cy="1024128"/>
          </a:xfrm>
          <a:prstGeom prst="rect">
            <a:avLst/>
          </a:prstGeom>
          <a:solidFill>
            <a:srgbClr val="1F4E3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67328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37124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T₃ and T₄ for sustainable &amp; cost-effective fodder bajra in Eastern Dry Zone, Karnataka.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2B1E"/>
          </a:solidFill>
          <a:ln w="12700">
            <a:solidFill>
              <a:srgbClr val="0D2B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 |  Dept. of Agronomy  |  AGR 312  |  Kharif 2025  |  16/17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651" y="-985"/>
            <a:ext cx="9303302" cy="51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1742</Words>
  <Application>Microsoft Office PowerPoint</Application>
  <PresentationFormat>On-screen Show (16:9)</PresentationFormat>
  <Paragraphs>351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Century Gothic</vt:lpstr>
      <vt:lpstr>Consolas</vt:lpstr>
      <vt:lpstr>Georgia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Foliar Application on Growth and Yield of Pearl Millet</dc:title>
  <dc:subject>PptxGenJS Presentation</dc:subject>
  <dc:creator>PptxGenJS</dc:creator>
  <cp:lastModifiedBy>Student</cp:lastModifiedBy>
  <cp:revision>2</cp:revision>
  <dcterms:created xsi:type="dcterms:W3CDTF">2026-04-02T03:26:17Z</dcterms:created>
  <dcterms:modified xsi:type="dcterms:W3CDTF">2026-04-02T04:28:38Z</dcterms:modified>
</cp:coreProperties>
</file>